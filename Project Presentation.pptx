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3C01C0-7151-428B-AC37-2A360BE9AE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B99E04-EA85-48B9-95AA-787792C211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01C850F-ED23-48C4-8D60-B178E430ED5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Mining Term Project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Sentiment Analysis on Drug Reviews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buNone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Ahmet Furkan Kocabas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buNone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Erdem Yavuz Hacisoftaoglu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buNone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Text Mining ECE 544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buNone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2024 – 2025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buNone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Fall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Content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Introduction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Motivation and Goal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Dataset Overview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Proposed Methodology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Results, Evaluation &amp; Discussion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Conclusion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Introduction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Sentiment Analysis on Drug Reviews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Data Set: drugs.com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Verdana"/>
              </a:rPr>
              <a:t>Text Mining Methods + Machine Learning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Verdana"/>
              </a:rPr>
              <a:t>&amp; Deep Learning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Models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Predicting Whether Reviews are Positive,Negative or Mixed Sentiment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Motivation and Goal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178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Motivation: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Sentiment Analysis: one of the most important NLP Task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Challenge: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Capturing the semantic of a document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Developing Robust Models to obtain high evaluation metrics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Dataset Overview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 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Train Set : (161297, 7), Test Set: (53766, 7)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1828800" y="2314800"/>
            <a:ext cx="6629400" cy="18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Dataset Overview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552960" y="1400400"/>
            <a:ext cx="3561840" cy="2714400"/>
          </a:xfrm>
          <a:prstGeom prst="rect">
            <a:avLst/>
          </a:prstGeom>
          <a:ln w="0">
            <a:noFill/>
          </a:ln>
        </p:spPr>
      </p:pic>
      <p:pic>
        <p:nvPicPr>
          <p:cNvPr id="22" name="" descr=""/>
          <p:cNvPicPr/>
          <p:nvPr/>
        </p:nvPicPr>
        <p:blipFill>
          <a:blip r:embed="rId2"/>
          <a:stretch/>
        </p:blipFill>
        <p:spPr>
          <a:xfrm>
            <a:off x="5715000" y="1486080"/>
            <a:ext cx="3409560" cy="262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Methodology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29200" y="1326600"/>
            <a:ext cx="4296600" cy="187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745" lnSpcReduction="10000"/>
          </a:bodyPr>
          <a:p>
            <a:pPr marL="432000" indent="0">
              <a:spcBef>
                <a:spcPts val="1417"/>
              </a:spcBef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Feature Extraction: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Used TF-IDF for Traditional Machine Learning models.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Used Word2Vec for advanced Deep Learning algorithms.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And used Transformer-based models such as BERT.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1374120"/>
            <a:ext cx="4343400" cy="21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0">
              <a:spcBef>
                <a:spcPts val="1417"/>
              </a:spcBef>
              <a:buNone/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Verdana"/>
              </a:rPr>
              <a:t>Preprocessing: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Verdana"/>
              </a:rPr>
              <a:t>Conversion of HTML elements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Verdana"/>
              </a:rPr>
              <a:t>Lowercase conversion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Verdana"/>
              </a:rPr>
              <a:t>Tokenization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Verdana"/>
              </a:rPr>
              <a:t>Removal of Non-Alphanumerics, frequent and rare words, and stopwords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Verdana"/>
              </a:rPr>
              <a:t>Class Mapping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Methodology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783800"/>
            <a:ext cx="5029200" cy="210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Models: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Traditional ML Models: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Naive Bayes, Logistic Regression, Random Forest, Gradient Boosting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Deep Learning Models: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CNN, LSTM, BERT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304600" y="1828800"/>
            <a:ext cx="4753800" cy="164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Interpretations: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Comparing Models’ Performance based on metrics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Extracting false predictions and understanding the reasons behind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Results and Evaluation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Feature Extraction Method: TF-IDF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Up to 5000 features, including bi-gram windows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Models: (Binary Classification)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Logistic Regression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Precision: .81, Recall: .82, F1: .81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Naive Bayes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Precision .78, Recall: .78, F1: .77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Random Forest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Precision: .81, Recall: .81, F1: .79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Gradient Boosting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Precision: .75, Recall: .74, F1: .70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5961960" y="2057400"/>
            <a:ext cx="3867840" cy="239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Results and Evaluation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29560" y="1371600"/>
            <a:ext cx="9071640" cy="274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86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Feature Extraction Method: Word2Vec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Static Word Embeddings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Vector Size: 50, 100, 200 (100 optimum)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Assumed to capture semantic meaning better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Deep Learning Models (Binary Classification):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LSTM: Precision: .83, Recall: .82, F1: 83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CNN:   Precision: Precision: .78, Recall: .78, F1: .78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Results and Evaluation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84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BERT: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Bidirectional Encoder Representations Transformers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Contextualized Embeddings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Transformer Based Model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Pretrained BERT on lowercase English Text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Binary Classification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Three Class Classification + Class Balancing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0">
              <a:spcBef>
                <a:spcPts val="1134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0">
              <a:spcBef>
                <a:spcPts val="1134"/>
              </a:spcBef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Results and Evaluation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804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BERT &amp; Binary Classification: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Precision: .92, Recall: .92, F1: .92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BERT &amp; Three Class Classification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Class Balancing with random under sampling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Negative, Mixed Sentiment (or Neutral), Positive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Precision: .82, Recall: .81, F1: .81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Discussion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More naive representation + simple models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Provides promising results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Outperforms Deep Learning Models + Word2Vec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Possible Justifications: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Small Vocabulary Diversity: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~44k in ~165k reviews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Average token size of a review:  ~40 tokens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i="1" lang="en-US" sz="2000" spc="-1" strike="noStrike">
                <a:solidFill>
                  <a:srgbClr val="000000"/>
                </a:solidFill>
                <a:latin typeface="Arial"/>
              </a:rPr>
              <a:t>Indicating narrow semantic context and simple narrative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Discussion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99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BERT: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Outperforms all other methods &amp; models in binary classification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Powered by transformer technology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Better at capturing contextual meanings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Already pre-trained on large corpus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Even capable of capturing mixed sentiment (neutral) reviews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“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Not Bad” → Predicted as Neutral whereas it was predicted as good in binary classification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.82 F1 Score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Discussion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07520" y="2286000"/>
            <a:ext cx="9071640" cy="13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Courier New"/>
                <a:ea typeface="Courier New"/>
              </a:rPr>
              <a:t>"I was on this for 5 years (and birth control pills for about 12 years), and would have told you how fabulous it was.  &lt;List all the benefits everyone else has listed, here.&gt;  Then a friend of mine convinced me to stop birth control all together for a while, and I turned into a new and better person!  I dropped 5 lbs instantly, had a huge sex drive, more lubrication, and just felt better.  I wouldn't say I was depressed before, but after going off of it, I would describe my time on birth control as feeling like I was inside a cloud.  Less emotions in general, sometimes a little down.  I'm bummed I'm back on it, but it seems to be the least impactful than the others.  I might try Paragard to avoid the hormones.",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0">
              <a:spcBef>
                <a:spcPts val="1134"/>
              </a:spcBef>
              <a:buNone/>
            </a:pPr>
            <a:r>
              <a:rPr b="0" lang="en-US" sz="1050" spc="-1" strike="noStrike">
                <a:solidFill>
                  <a:srgbClr val="000000"/>
                </a:solidFill>
                <a:latin typeface="Courier New"/>
                <a:ea typeface="Courier New"/>
              </a:rPr>
              <a:t>True Label: Neutral, Predicted Label: Positive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392400" y="1371600"/>
            <a:ext cx="10123200" cy="52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Even BERT can miss context in some cases: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/>
          </p:nvPr>
        </p:nvSpPr>
        <p:spPr>
          <a:xfrm>
            <a:off x="300960" y="3886200"/>
            <a:ext cx="9071640" cy="13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"I am a 12 year survivor of mirapex/Pramepexole. It was a miracle to begin with. I only slept about 4hrs a night but had enormous energy and never tired. That lasted nine years. But during that time I lost bladder control, impulse disorders, loss of concentration, myalgia neuropathy, falling asleep while driving, many more and augmentation. I was on .5 mg. Detoxing med free from this med was horrendous! After detox most of the side effects cleared up. But I still have issues with memory and concentration. This is the only med I took on a reg bases as my health was good. Im still suffering the side effects of the Withdrawl from it. Studies should be for longer than 12 weeks."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0">
              <a:spcBef>
                <a:spcPts val="1134"/>
              </a:spcBef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True Label: Negative, Predicted Label: Positive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Conclusion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74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Sentiment Analysis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Drug Reviews &amp; Ratings (drugs.com)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Utilized different representation methods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Different Machine Learning and Deep Learning Models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BERT: Winner but with some weaknesses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1600200" y="2469600"/>
            <a:ext cx="6811200" cy="50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THANKS FOR YOUR ATTENTION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LibreOffice/24.2.6.2$Linux_X86_64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2025-01-01T15:07:57Z</dcterms:created>
  <dc:creator/>
  <dc:description/>
  <dc:language>en-US</dc:language>
  <cp:lastModifiedBy/>
  <dcterms:modified xsi:type="dcterms:W3CDTF">2025-01-01T20:30:29Z</dcterms:modified>
  <cp:revision>4</cp:revision>
  <dc:subject/>
  <dc:title/>
</cp:coreProperties>
</file>